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F497D"/>
                </a:solidFill>
                <a:latin typeface="Calibri"/>
              </a:rP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293B"/>
                </a:solidFill>
                <a:latin typeface="Calibri"/>
              </a:rPr>
              <a:t>Problem Statement ID – SIH1454</a:t>
            </a:r>
            <a:endParaRPr lang="en-US" dirty="0"/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293B"/>
                </a:solidFill>
                <a:latin typeface="Calibri"/>
              </a:rPr>
              <a:t>Problem Statement Title – Create an intelligent system using AI/ML to detect phishing domains which imitate look and feel of genuine domains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293B"/>
                </a:solidFill>
                <a:latin typeface="Calibri"/>
              </a:rPr>
              <a:t>Theme – Blockchain &amp; Cybersecurity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293B"/>
                </a:solidFill>
                <a:latin typeface="Calibri"/>
              </a:rPr>
              <a:t>PS Category – Software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293B"/>
                </a:solidFill>
                <a:latin typeface="Calibri"/>
              </a:rPr>
              <a:t>Team ID – [TEAM ID]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293B"/>
                </a:solidFill>
                <a:latin typeface="Calibri"/>
              </a:rPr>
              <a:t>Team Name (Registered on portal) – [TEAM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2070080" y="2064921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497D"/>
                </a:solidFill>
                <a:latin typeface="Calibri"/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365760" y="960120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97D"/>
                </a:solidFill>
                <a:latin typeface="Calibri"/>
              </a:rPr>
              <a:t>IDEA TITLE  |  PhishShield AI   —  Analyze before you trust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365760" y="120700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Proposed Solution  ·  How it addresses the problem  ·  Innovation and uniqueness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65760" y="1508760"/>
            <a:ext cx="2788920" cy="384048"/>
          </a:xfrm>
          <a:prstGeom prst="roundRect">
            <a:avLst>
              <a:gd name="adj" fmla="val 8000"/>
            </a:avLst>
          </a:prstGeom>
          <a:solidFill>
            <a:srgbClr val="4F81BD"/>
          </a:solidFill>
          <a:ln w="952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FFFFFF"/>
                </a:solidFill>
                <a:latin typeface="Calibri"/>
              </a:rPr>
              <a:t>URL / domain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3291840" y="1508760"/>
            <a:ext cx="2788920" cy="384048"/>
          </a:xfrm>
          <a:prstGeom prst="roundRect">
            <a:avLst>
              <a:gd name="adj" fmla="val 8000"/>
            </a:avLst>
          </a:prstGeom>
          <a:solidFill>
            <a:srgbClr val="4BACC6"/>
          </a:solidFill>
          <a:ln w="9525"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FFFFFF"/>
                </a:solidFill>
                <a:latin typeface="Calibri"/>
              </a:rPr>
              <a:t>Pasted email / WA / SMS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6217920" y="1508760"/>
            <a:ext cx="2788920" cy="384048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FFFFFF"/>
                </a:solidFill>
                <a:latin typeface="Calibri"/>
              </a:rPr>
              <a:t>Webpage (extension)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9144000" y="1508760"/>
            <a:ext cx="2788920" cy="384048"/>
          </a:xfrm>
          <a:prstGeom prst="roundRect">
            <a:avLst>
              <a:gd name="adj" fmla="val 8000"/>
            </a:avLst>
          </a:prstGeom>
          <a:solidFill>
            <a:srgbClr val="3D8B5F"/>
          </a:solidFill>
          <a:ln w="9525">
            <a:solidFill>
              <a:srgbClr val="3D8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FFFFFF"/>
                </a:solidFill>
                <a:latin typeface="Calibri"/>
              </a:rPr>
              <a:t>QR image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709160" y="1938528"/>
            <a:ext cx="2743200" cy="292608"/>
          </a:xfrm>
          <a:prstGeom prst="roundRect">
            <a:avLst>
              <a:gd name="adj" fmla="val 8000"/>
            </a:avLst>
          </a:prstGeom>
          <a:solidFill>
            <a:srgbClr val="F79646"/>
          </a:solidFill>
          <a:ln w="9525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↓  POST /api/v1/analyze/content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320040" y="2304288"/>
            <a:ext cx="2267712" cy="658368"/>
          </a:xfrm>
          <a:prstGeom prst="roundRect">
            <a:avLst>
              <a:gd name="adj" fmla="val 8000"/>
            </a:avLst>
          </a:prstGeom>
          <a:solidFill>
            <a:srgbClr val="4F81BD"/>
          </a:solidFill>
          <a:ln w="952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URL / domain
analysis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2679192" y="2304288"/>
            <a:ext cx="2267712" cy="658368"/>
          </a:xfrm>
          <a:prstGeom prst="roundRect">
            <a:avLst>
              <a:gd name="adj" fmla="val 8000"/>
            </a:avLst>
          </a:prstGeom>
          <a:solidFill>
            <a:srgbClr val="C0504D"/>
          </a:solidFill>
          <a:ln w="952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Psychological
threat (EN+Hinglish)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5038344" y="2304288"/>
            <a:ext cx="2267712" cy="658368"/>
          </a:xfrm>
          <a:prstGeom prst="roundRect">
            <a:avLst>
              <a:gd name="adj" fmla="val 8000"/>
            </a:avLst>
          </a:prstGeom>
          <a:solidFill>
            <a:srgbClr val="F79646"/>
          </a:solidFill>
          <a:ln w="9525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Brand +
sender signals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7397496" y="2304288"/>
            <a:ext cx="2267712" cy="658368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Threat intel
GSB / OpenPhish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9756648" y="2304288"/>
            <a:ext cx="2267712" cy="658368"/>
          </a:xfrm>
          <a:prstGeom prst="roundRect">
            <a:avLst>
              <a:gd name="adj" fmla="val 8000"/>
            </a:avLst>
          </a:prstGeom>
          <a:solidFill>
            <a:srgbClr val="4BACC6"/>
          </a:solidFill>
          <a:ln w="9525"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Community
reports (signal)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3291840" y="3035808"/>
            <a:ext cx="5577840" cy="34747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RISK FUSION ENGINE  →  score 0–100  ·  LOW / MED / HIGH / CRITICAL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1280160" y="3456432"/>
            <a:ext cx="4389120" cy="384048"/>
          </a:xfrm>
          <a:prstGeom prst="roundRect">
            <a:avLst>
              <a:gd name="adj" fmla="val 8000"/>
            </a:avLst>
          </a:prstGeom>
          <a:solidFill>
            <a:srgbClr val="3D8B5F"/>
          </a:solidFill>
          <a:ln w="9525">
            <a:solidFill>
              <a:srgbClr val="3D8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SIMPLE VIEW  —  plain-English warning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6400800" y="3456432"/>
            <a:ext cx="4389120" cy="384048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TECHNICAL VIEW  —  evidence + tags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365760" y="3913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How it addresses SIH1454 (NTRO): imitate-genuine-domain detection + usable warning, not jargon.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320040" y="4187952"/>
            <a:ext cx="2267712" cy="105156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952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1F497D"/>
                </a:solidFill>
                <a:latin typeface="Calibri"/>
              </a:rPr>
              <a:t>1 DETECT</a:t>
            </a:r>
          </a:p>
          <a:p>
            <a:r>
              <a:rPr sz="900">
                <a:solidFill>
                  <a:srgbClr val="475569"/>
                </a:solidFill>
                <a:latin typeface="Calibri"/>
              </a:rPr>
              <a:t>Lookalike domains, short links, IP URLs, new age, intel flags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2679192" y="4187952"/>
            <a:ext cx="2267712" cy="105156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952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1F497D"/>
                </a:solidFill>
                <a:latin typeface="Calibri"/>
              </a:rPr>
              <a:t>2 UNDERSTAND</a:t>
            </a:r>
          </a:p>
          <a:p>
            <a:r>
              <a:rPr sz="900">
                <a:solidFill>
                  <a:srgbClr val="475569"/>
                </a:solidFill>
                <a:latin typeface="Calibri"/>
              </a:rPr>
              <a:t>Urgency / fear / coercion / Hinglish in pasted messages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5038344" y="4187952"/>
            <a:ext cx="2267712" cy="105156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952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1F497D"/>
                </a:solidFill>
                <a:latin typeface="Calibri"/>
              </a:rPr>
              <a:t>3 EXPLAIN</a:t>
            </a:r>
          </a:p>
          <a:p>
            <a:r>
              <a:rPr sz="900">
                <a:solidFill>
                  <a:srgbClr val="475569"/>
                </a:solidFill>
                <a:latin typeface="Calibri"/>
              </a:rPr>
              <a:t>Simple View: do not enter OTP. Technical View: why.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7397496" y="4187952"/>
            <a:ext cx="2267712" cy="105156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952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1F497D"/>
                </a:solidFill>
                <a:latin typeface="Calibri"/>
              </a:rPr>
              <a:t>4 PROTECT</a:t>
            </a:r>
          </a:p>
          <a:p>
            <a:r>
              <a:rPr sz="900">
                <a:solidFill>
                  <a:srgbClr val="475569"/>
                </a:solidFill>
                <a:latin typeface="Calibri"/>
              </a:rPr>
              <a:t>Browser overlay on HIGH/CRITICAL. Same API as dashboard.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9756648" y="4187952"/>
            <a:ext cx="2267712" cy="105156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952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1F497D"/>
                </a:solidFill>
                <a:latin typeface="Calibri"/>
              </a:rPr>
              <a:t>5 LEARN</a:t>
            </a:r>
          </a:p>
          <a:p>
            <a:r>
              <a:rPr sz="900">
                <a:solidFill>
                  <a:srgbClr val="475569"/>
                </a:solidFill>
                <a:latin typeface="Calibri"/>
              </a:rPr>
              <a:t>Authenticated Mark as Scam/Risky/Safe — signal, not proof.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365760" y="528523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97706"/>
                </a:solidFill>
                <a:latin typeface="Calibri"/>
              </a:rPr>
              <a:t>Honesty: pasted content (not Gmail/WhatsApp inbox). Screenshot OCR = PARTIAL (Tesseract). Native phone SMS = PLANNED. ‘ML’ fusion weight currently reuses URL risk — trained CNN/classifier = PLANNED. Confidence = signal agreement, not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2070080" y="2533653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497D"/>
                </a:solidFill>
                <a:latin typeface="Calibri"/>
              </a:rPr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320040" y="932688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Calibri"/>
              </a:rPr>
              <a:t>TECHNICAL APPROACH  ·  Technologies  ·  Methodology  ·  Working prototype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0040" y="1207008"/>
            <a:ext cx="1901952" cy="1051560"/>
          </a:xfrm>
          <a:prstGeom prst="roundRect">
            <a:avLst>
              <a:gd name="adj" fmla="val 8000"/>
            </a:avLst>
          </a:prstGeom>
          <a:solidFill>
            <a:srgbClr val="4F81BD"/>
          </a:solidFill>
          <a:ln w="952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FRONTEND</a:t>
            </a:r>
          </a:p>
          <a:p>
            <a:r>
              <a:rPr sz="900">
                <a:solidFill>
                  <a:srgbClr val="FFFFFF"/>
                </a:solidFill>
                <a:latin typeface="Calibri"/>
              </a:rPr>
              <a:t>React 19  ·  Vite 8
Tailwind  ·  Axios  ·  Recharts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286000" y="1207008"/>
            <a:ext cx="1901952" cy="1051560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BACKEND</a:t>
            </a:r>
          </a:p>
          <a:p>
            <a:r>
              <a:rPr sz="900">
                <a:solidFill>
                  <a:srgbClr val="FFFFFF"/>
                </a:solidFill>
                <a:latin typeface="Calibri"/>
              </a:rPr>
              <a:t>Python  ·  FastAPI
Pydantic  ·  Uvicorn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51959" y="1207008"/>
            <a:ext cx="1901952" cy="1051560"/>
          </a:xfrm>
          <a:prstGeom prst="roundRect">
            <a:avLst>
              <a:gd name="adj" fmla="val 8000"/>
            </a:avLst>
          </a:prstGeom>
          <a:solidFill>
            <a:srgbClr val="4BACC6"/>
          </a:solidFill>
          <a:ln w="9525"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DATABASE</a:t>
            </a:r>
          </a:p>
          <a:p>
            <a:r>
              <a:rPr sz="900">
                <a:solidFill>
                  <a:srgbClr val="FFFFFF"/>
                </a:solidFill>
                <a:latin typeface="Calibri"/>
              </a:rPr>
              <a:t>SQLite (live)
PostgreSQL = PLANNED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217919" y="1207008"/>
            <a:ext cx="1901952" cy="1051560"/>
          </a:xfrm>
          <a:prstGeom prst="roundRect">
            <a:avLst>
              <a:gd name="adj" fmla="val 8000"/>
            </a:avLst>
          </a:prstGeom>
          <a:solidFill>
            <a:srgbClr val="F79646"/>
          </a:solidFill>
          <a:ln w="9525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DETECTION</a:t>
            </a:r>
          </a:p>
          <a:p>
            <a:r>
              <a:rPr sz="900">
                <a:solidFill>
                  <a:srgbClr val="FFFFFF"/>
                </a:solidFill>
                <a:latin typeface="Calibri"/>
              </a:rPr>
              <a:t>URLChecker  ·  Psychology 2.0
Risk fusion  ·  OpenCV QR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183879" y="1207008"/>
            <a:ext cx="1901952" cy="1051560"/>
          </a:xfrm>
          <a:prstGeom prst="roundRect">
            <a:avLst>
              <a:gd name="adj" fmla="val 8000"/>
            </a:avLst>
          </a:prstGeom>
          <a:solidFill>
            <a:srgbClr val="3D8B5F"/>
          </a:solidFill>
          <a:ln w="9525">
            <a:solidFill>
              <a:srgbClr val="3D8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EXTENSION</a:t>
            </a:r>
          </a:p>
          <a:p>
            <a:r>
              <a:rPr sz="900">
                <a:solidFill>
                  <a:srgbClr val="FFFFFF"/>
                </a:solidFill>
                <a:latin typeface="Calibri"/>
              </a:rPr>
              <a:t>Manifest V3
service worker + overlay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10149840" y="1207008"/>
            <a:ext cx="1901952" cy="1051560"/>
          </a:xfrm>
          <a:prstGeom prst="roundRect">
            <a:avLst>
              <a:gd name="adj" fmla="val 8000"/>
            </a:avLst>
          </a:prstGeom>
          <a:solidFill>
            <a:srgbClr val="C0504D"/>
          </a:solidFill>
          <a:ln w="952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SECURITY</a:t>
            </a:r>
          </a:p>
          <a:p>
            <a:r>
              <a:rPr sz="900">
                <a:solidFill>
                  <a:srgbClr val="FFFFFF"/>
                </a:solidFill>
                <a:latin typeface="Calibri"/>
              </a:rPr>
              <a:t>bcrypt  ·  JWT  ·  SSRF guards
parameterized SQL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20040" y="2331720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Architecture (actual runtime — not Flask, not a trained CNN)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20040" y="2578608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952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1F497D"/>
                </a:solidFill>
              </a:rPr>
              <a:t>INPUT</a:t>
            </a:r>
          </a:p>
          <a:p>
            <a:r>
              <a:rPr sz="900">
                <a:solidFill>
                  <a:srgbClr val="475569"/>
                </a:solidFill>
              </a:rPr>
              <a:t>URL · paste · QR
extension tab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2286000" y="2578608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952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1F497D"/>
                </a:solidFill>
              </a:rPr>
              <a:t>NORMALIZE</a:t>
            </a:r>
          </a:p>
          <a:p>
            <a:r>
              <a:rPr sz="900">
                <a:solidFill>
                  <a:srgbClr val="475569"/>
                </a:solidFill>
              </a:rPr>
              <a:t>extract URLs
unwrap short links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251959" y="2578608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952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1F497D"/>
                </a:solidFill>
              </a:rPr>
              <a:t>ANALYZE</a:t>
            </a:r>
          </a:p>
          <a:p>
            <a:r>
              <a:rPr sz="900">
                <a:solidFill>
                  <a:srgbClr val="475569"/>
                </a:solidFill>
              </a:rPr>
              <a:t>domain · intel
psych · brand · sender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217919" y="2578608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952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1F497D"/>
                </a:solidFill>
              </a:rPr>
              <a:t>FUSE</a:t>
            </a:r>
          </a:p>
          <a:p>
            <a:r>
              <a:rPr sz="900">
                <a:solidFill>
                  <a:srgbClr val="475569"/>
                </a:solidFill>
              </a:rPr>
              <a:t>weighted signals
psych cannot solo-CRITICAL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8183879" y="2578608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952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1F497D"/>
                </a:solidFill>
              </a:rPr>
              <a:t>EXPLAIN</a:t>
            </a:r>
          </a:p>
          <a:p>
            <a:r>
              <a:rPr sz="900">
                <a:solidFill>
                  <a:srgbClr val="475569"/>
                </a:solidFill>
              </a:rPr>
              <a:t>Simple + Technical
views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10149840" y="2578608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952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1F497D"/>
                </a:solidFill>
              </a:rPr>
              <a:t>ACT</a:t>
            </a:r>
          </a:p>
          <a:p>
            <a:r>
              <a:rPr sz="900">
                <a:solidFill>
                  <a:srgbClr val="475569"/>
                </a:solidFill>
              </a:rPr>
              <a:t>warn · report
store SQLite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320040" y="3520440"/>
            <a:ext cx="11521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</a:rPr>
              <a:t>Process: Extract → Analyze → Score → Explain → Warn / Report     |     Prototype: React :5173  +  FastAPI :8000  +  unpacked Chrome extension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320040" y="3767328"/>
            <a:ext cx="115214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NOT in this repo: Flask  ·  live PostgreSQL  ·  TensorFlow/Keras CNN  ·  sklearn model file  ·  Gmail/Outlook OAuth  ·  native Android SMS.
Intel: Google Safe Browsing if API key set, else OpenPhish. QR: OpenCV. Screenshot: QR always; OCR only if Tesseract is installed.
Key files: backend/app/services/content_analyzer.py  ·  risk_engine.py  ·  url_checker.py  ·  psychology.py  ·  extension/  ·  frontend/src/pages/Scanner.jsx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2070080" y="2533653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497D"/>
                </a:solidFill>
                <a:latin typeface="Calibri"/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320040" y="932688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Calibri"/>
              </a:rPr>
              <a:t>FEASIBILITY AND VIABILITY  ·  Analysis  ·  Challenges  ·  Strategies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0040" y="1261872"/>
            <a:ext cx="3794760" cy="196596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9525">
            <a:solidFill>
              <a:srgbClr val="3D8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3D8B5F"/>
                </a:solidFill>
              </a:rPr>
              <a:t>TECHNICAL</a:t>
            </a:r>
          </a:p>
          <a:p>
            <a:r>
              <a:rPr sz="1100">
                <a:solidFill>
                  <a:srgbClr val="1E293B"/>
                </a:solidFill>
              </a:rPr>
              <a:t>Working FastAPI+React prototype
pytest coverage on APIs
Modular services (swap SQLite→Postgres later)
Open-source stack, no paid licence required
QR/OpenCV already in requirements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51959" y="1261872"/>
            <a:ext cx="3794760" cy="196596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952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4F81BD"/>
                </a:solidFill>
              </a:rPr>
              <a:t>OPERATIONAL</a:t>
            </a:r>
          </a:p>
          <a:p>
            <a:r>
              <a:rPr sz="1100">
                <a:solidFill>
                  <a:srgbClr val="1E293B"/>
                </a:solidFill>
              </a:rPr>
              <a:t>Paste URL/message in Scanner tabs
Extension scans current tab + visible links
Plain-language Simple View for non-tech users
Dashboard history / stats from SQLite
No need to read private inboxes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183879" y="1261872"/>
            <a:ext cx="3794760" cy="196596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952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1F497D"/>
                </a:solidFill>
              </a:rPr>
              <a:t>SECURITY</a:t>
            </a:r>
          </a:p>
          <a:p>
            <a:r>
              <a:rPr sz="1100">
                <a:solidFill>
                  <a:srgbClr val="1E293B"/>
                </a:solidFill>
              </a:rPr>
              <a:t>IMPLEMENTED: bcrypt, JWT, ?-SQL,
SSRF block (private IP/metadata),
report 24h/20-cap, 5 MB upload cap
PARTIAL: CORS allow-all (dev)
PLANNED: global API rate-limit, cert-chain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20040" y="3310128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Challenge  →  mitigation (implemented unless marked planned)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20040" y="3547872"/>
            <a:ext cx="5394960" cy="292608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952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1E293B"/>
                </a:solidFill>
                <a:latin typeface="Calibri"/>
              </a:rPr>
              <a:t>False positives from marketing language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852160" y="3547872"/>
            <a:ext cx="5943600" cy="292608"/>
          </a:xfrm>
          <a:prstGeom prst="roundRect">
            <a:avLst>
              <a:gd name="adj" fmla="val 8000"/>
            </a:avLst>
          </a:prstGeom>
          <a:solidFill>
            <a:srgbClr val="E8F7EF"/>
          </a:solidFill>
          <a:ln w="9525">
            <a:solidFill>
              <a:srgbClr val="3D8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1E293B"/>
                </a:solidFill>
                <a:latin typeface="Calibri"/>
              </a:rPr>
              <a:t>Psych cannot raise HIGH/CRITICAL alone (risk_engine.py)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20040" y="3877056"/>
            <a:ext cx="5394960" cy="292608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952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1E293B"/>
                </a:solidFill>
                <a:latin typeface="Calibri"/>
              </a:rPr>
              <a:t>New phishing domains / shorteners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852160" y="3877056"/>
            <a:ext cx="5943600" cy="292608"/>
          </a:xfrm>
          <a:prstGeom prst="roundRect">
            <a:avLst>
              <a:gd name="adj" fmla="val 8000"/>
            </a:avLst>
          </a:prstGeom>
          <a:solidFill>
            <a:srgbClr val="E8F7EF"/>
          </a:solidFill>
          <a:ln w="9525">
            <a:solidFill>
              <a:srgbClr val="3D8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1E293B"/>
                </a:solidFill>
                <a:latin typeface="Calibri"/>
              </a:rPr>
              <a:t>RDAP age + unwrap redirects + GSB/OpenPhish + brand distance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20040" y="4206240"/>
            <a:ext cx="5394960" cy="292608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952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1E293B"/>
                </a:solidFill>
                <a:latin typeface="Calibri"/>
              </a:rPr>
              <a:t>Community report abuse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852160" y="4206240"/>
            <a:ext cx="5943600" cy="292608"/>
          </a:xfrm>
          <a:prstGeom prst="roundRect">
            <a:avLst>
              <a:gd name="adj" fmla="val 8000"/>
            </a:avLst>
          </a:prstGeom>
          <a:solidFill>
            <a:srgbClr val="E8F7EF"/>
          </a:solidFill>
          <a:ln w="9525">
            <a:solidFill>
              <a:srgbClr val="3D8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1E293B"/>
                </a:solidFill>
                <a:latin typeface="Calibri"/>
              </a:rPr>
              <a:t>Login required + 1 URL/24h + 20 reports/day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20040" y="4535424"/>
            <a:ext cx="5394960" cy="292608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952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1E293B"/>
                </a:solidFill>
                <a:latin typeface="Calibri"/>
              </a:rPr>
              <a:t>Privacy / inbox access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5852160" y="4535424"/>
            <a:ext cx="5943600" cy="292608"/>
          </a:xfrm>
          <a:prstGeom prst="roundRect">
            <a:avLst>
              <a:gd name="adj" fmla="val 8000"/>
            </a:avLst>
          </a:prstGeom>
          <a:solidFill>
            <a:srgbClr val="E8F7EF"/>
          </a:solidFill>
          <a:ln w="9525">
            <a:solidFill>
              <a:srgbClr val="3D8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1E293B"/>
                </a:solidFill>
                <a:latin typeface="Calibri"/>
              </a:rPr>
              <a:t>User-pasted content only; no OTP/password scrape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320040" y="4864608"/>
            <a:ext cx="5394960" cy="292608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952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1E293B"/>
                </a:solidFill>
                <a:latin typeface="Calibri"/>
              </a:rPr>
              <a:t>SQLite at multi-server scale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852160" y="4864608"/>
            <a:ext cx="5943600" cy="292608"/>
          </a:xfrm>
          <a:prstGeom prst="roundRect">
            <a:avLst>
              <a:gd name="adj" fmla="val 8000"/>
            </a:avLst>
          </a:prstGeom>
          <a:solidFill>
            <a:srgbClr val="E8F7EF"/>
          </a:solidFill>
          <a:ln w="9525">
            <a:solidFill>
              <a:srgbClr val="3D8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1E293B"/>
                </a:solidFill>
                <a:latin typeface="Calibri"/>
              </a:rPr>
              <a:t>PLANNED: PostgreSQL; MVP is single-node demo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20040" y="5193792"/>
            <a:ext cx="5394960" cy="292608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952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1E293B"/>
                </a:solidFill>
                <a:latin typeface="Calibri"/>
              </a:rPr>
              <a:t>No labelled CNN yet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5852160" y="5193792"/>
            <a:ext cx="5943600" cy="292608"/>
          </a:xfrm>
          <a:prstGeom prst="roundRect">
            <a:avLst>
              <a:gd name="adj" fmla="val 8000"/>
            </a:avLst>
          </a:prstGeom>
          <a:solidFill>
            <a:srgbClr val="E8F7EF"/>
          </a:solidFill>
          <a:ln w="9525">
            <a:solidFill>
              <a:srgbClr val="3D8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1E293B"/>
                </a:solidFill>
                <a:latin typeface="Calibri"/>
              </a:rPr>
              <a:t>PLANNED trained model; today explainable fusion + reserved ml_confidence</a:t>
            </a:r>
          </a:p>
        </p:txBody>
      </p:sp>
    </p:spTree>
    <p:extLst>
      <p:ext uri="{BB962C8B-B14F-4D97-AF65-F5344CB8AC3E}">
        <p14:creationId xmlns:p14="http://schemas.microsoft.com/office/powerpoint/2010/main" xmlns="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2070080" y="2533653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497D"/>
                </a:solidFill>
                <a:latin typeface="Calibri"/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320040" y="932688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Calibri"/>
              </a:rPr>
              <a:t>IMPACT AND BENEFITS  ·  Target audience  ·  Social / economic value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0040" y="1234440"/>
            <a:ext cx="1901952" cy="347472"/>
          </a:xfrm>
          <a:prstGeom prst="roundRect">
            <a:avLst>
              <a:gd name="adj" fmla="val 8000"/>
            </a:avLst>
          </a:prstGeom>
          <a:solidFill>
            <a:srgbClr val="4F81BD"/>
          </a:solidFill>
          <a:ln w="952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Elderly users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286000" y="1234440"/>
            <a:ext cx="1901952" cy="347472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First-time UPI / banking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51959" y="1234440"/>
            <a:ext cx="1901952" cy="347472"/>
          </a:xfrm>
          <a:prstGeom prst="roundRect">
            <a:avLst>
              <a:gd name="adj" fmla="val 8000"/>
            </a:avLst>
          </a:prstGeom>
          <a:solidFill>
            <a:srgbClr val="4F81BD"/>
          </a:solidFill>
          <a:ln w="952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Students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217919" y="1234440"/>
            <a:ext cx="1901952" cy="347472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Everyday smartphone users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183879" y="1234440"/>
            <a:ext cx="1901952" cy="347472"/>
          </a:xfrm>
          <a:prstGeom prst="roundRect">
            <a:avLst>
              <a:gd name="adj" fmla="val 8000"/>
            </a:avLst>
          </a:prstGeom>
          <a:solidFill>
            <a:srgbClr val="4F81BD"/>
          </a:solidFill>
          <a:ln w="952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Non-technical staff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10149840" y="1234440"/>
            <a:ext cx="1901952" cy="347472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SOC-curious learners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20040" y="1664208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504D"/>
                </a:solidFill>
                <a:latin typeface="Calibri"/>
              </a:rPr>
              <a:t>BEFORE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309360" y="1664208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8B5F"/>
                </a:solidFill>
                <a:latin typeface="Calibri"/>
              </a:rPr>
              <a:t>WITH PHISHSHIELD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20040" y="1901952"/>
            <a:ext cx="5623560" cy="1965960"/>
          </a:xfrm>
          <a:prstGeom prst="roundRect">
            <a:avLst>
              <a:gd name="adj" fmla="val 8000"/>
            </a:avLst>
          </a:prstGeom>
          <a:solidFill>
            <a:srgbClr val="FDEDED"/>
          </a:solidFill>
          <a:ln w="952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1E293B"/>
                </a:solidFill>
                <a:latin typeface="Calibri"/>
              </a:rPr>
              <a:t>Suspicious SMS / WhatsApp link
→ User sees padlock / jargon
→ “SSL mismatch” is meaningless
→ Enters OTP on fake bank page
→ Credential theft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263640" y="1901952"/>
            <a:ext cx="5623560" cy="1965960"/>
          </a:xfrm>
          <a:prstGeom prst="roundRect">
            <a:avLst>
              <a:gd name="adj" fmla="val 8000"/>
            </a:avLst>
          </a:prstGeom>
          <a:solidFill>
            <a:srgbClr val="ECF8F1"/>
          </a:solidFill>
          <a:ln w="9525">
            <a:solidFill>
              <a:srgbClr val="3D8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1E293B"/>
                </a:solidFill>
                <a:latin typeface="Calibri"/>
              </a:rPr>
              <a:t>Same link pasted or opened in browser
→ Fusion score + threat tags
→ “This may be pretending to be SBI/PayPal.
    Do not enter password or OTP.”
→ Go back  or  Continue anyway (conscious)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20040" y="3950208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97D"/>
                </a:solidFill>
                <a:latin typeface="Calibri"/>
              </a:rPr>
              <a:t>Benefits: fewer credential-harvest victims  ·  explainable warnings  ·  community signal  ·  one engine for web + extension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320040" y="4187952"/>
            <a:ext cx="11521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Calibri"/>
              </a:rPr>
              <a:t>Proposed evaluation metrics  (NOT claimed results — no published F1 in this repository)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320040" y="4462272"/>
            <a:ext cx="3794760" cy="438912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9525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Detection recall on labelled lookalike domains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251959" y="4462272"/>
            <a:ext cx="3794760" cy="438912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9525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False-positive rate on trusted banks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8183879" y="4462272"/>
            <a:ext cx="3794760" cy="438912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9525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Median analysis latency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320040" y="4965192"/>
            <a:ext cx="3794760" cy="438912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9525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Share of HIGH/CRITICAL with usable Simple View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251959" y="4965192"/>
            <a:ext cx="3794760" cy="438912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9525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Community report precision after review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8183879" y="4965192"/>
            <a:ext cx="3794760" cy="438912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9525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1E293B"/>
                </a:solidFill>
                <a:latin typeface="Calibri"/>
              </a:rPr>
              <a:t>Channel coverage: URL / paste / QR / extension</a:t>
            </a:r>
          </a:p>
        </p:txBody>
      </p:sp>
    </p:spTree>
    <p:extLst>
      <p:ext uri="{BB962C8B-B14F-4D97-AF65-F5344CB8AC3E}">
        <p14:creationId xmlns:p14="http://schemas.microsoft.com/office/powerpoint/2010/main" xmlns="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2070080" y="2795263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497D"/>
                </a:solidFill>
                <a:latin typeface="Calibri"/>
              </a:rPr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320040" y="932688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Calibri"/>
              </a:rPr>
              <a:t>RESEARCH AND REFERENCES  ·  Sources actually used by this implementation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11480" y="12344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  <a:latin typeface="Calibri"/>
              </a:rPr>
              <a:t>SIH1454 / NTRO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474720" y="1234440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Create an intelligent system using AI/ML to detect phishing domains which imitate look and feel of genuine domains. Theme: Blockchain &amp; Cybersecurity. Category: Software.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11480" y="165506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  <a:latin typeface="Calibri"/>
              </a:rPr>
              <a:t>Google Safe Browsing API v4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474720" y="1655064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https://developers.google.com/safe-browsing — optional live IOC lookup (threatMatches:find).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11480" y="207568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  <a:latin typeface="Calibri"/>
              </a:rPr>
              <a:t>OpenPhish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474720" y="207568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https://openphish.com — public phishing URL feed used when no Google key is configured.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11480" y="24963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  <a:latin typeface="Calibri"/>
              </a:rPr>
              <a:t>RDAP (IETF RFC 7480+)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474720" y="2496312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https://rdap.org — domain registration age for newly registered lookalikes.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11480" y="291693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  <a:latin typeface="Calibri"/>
              </a:rPr>
              <a:t>OWASP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474720" y="2916936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Phishing / unvalidated redirects / SSRF cheat sheets — informed SSRF blocks in ad_signals.py / ssrf.py.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11480" y="333756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  <a:latin typeface="Calibri"/>
              </a:rPr>
              <a:t>FastAPI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3474720" y="3337560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https://fastapi.tiangolo.com — actual API framework (not Flask).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11480" y="375818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  <a:latin typeface="Calibri"/>
              </a:rPr>
              <a:t>React + Vite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3474720" y="3758184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https://react.dev  ·  https://vite.dev — dashboard SPA.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11480" y="417880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  <a:latin typeface="Calibri"/>
              </a:rPr>
              <a:t>Chrome Extensions MV3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3474720" y="417880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https://developer.chrome.com/docs/extensions — service worker, content scripts, host permissions.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11480" y="459943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  <a:latin typeface="Calibri"/>
              </a:rPr>
              <a:t>SQLite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3474720" y="4599432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https://www.sqlite.org — live database; PostgreSQL remains a scale-up plan.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11480" y="502005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  <a:latin typeface="Calibri"/>
              </a:rPr>
              <a:t>OpenCV QR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3474720" y="5020056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opencv-python-headless in requirements.txt — QR decode from uploaded images.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11480" y="55321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Calibri"/>
              </a:rPr>
              <a:t>No fabricated papers or accuracy numbers. Fill Team ID / Team Name on slide 1 from the SIH portal before upload.</a:t>
            </a:r>
          </a:p>
        </p:txBody>
      </p:sp>
    </p:spTree>
    <p:extLst>
      <p:ext uri="{BB962C8B-B14F-4D97-AF65-F5344CB8AC3E}">
        <p14:creationId xmlns:p14="http://schemas.microsoft.com/office/powerpoint/2010/main" xmlns="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325</Words>
  <Application>Microsoft Office PowerPoint</Application>
  <PresentationFormat>Custom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Slide 7</vt:lpstr>
    </vt:vector>
  </TitlesOfParts>
  <Company>Crowdfunder, Inc.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ADMIN</cp:lastModifiedBy>
  <cp:revision>148</cp:revision>
  <dcterms:created xsi:type="dcterms:W3CDTF">2013-12-12T18:46:50Z</dcterms:created>
  <dcterms:modified xsi:type="dcterms:W3CDTF">2026-07-24T09:52:11Z</dcterms:modified>
</cp:coreProperties>
</file>